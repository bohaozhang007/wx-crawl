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WX-CRAWL  / 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86968"/>
            <a:ext cx="109728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微信公众号科研机会 · 自动化处理流程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27632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从信息采集到机会提醒，以大模型识别内容，用明确规则控制筛选。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404872"/>
            <a:ext cx="1508760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569464"/>
            <a:ext cx="1252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定时触发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3008376"/>
            <a:ext cx="1252728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Hermes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404872"/>
            <a:ext cx="1645920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9464" y="256946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列表采集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3008376"/>
            <a:ext cx="1389888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TikHub</a:t>
            </a:r>
          </a:p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增量获取、去重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5696" y="2404872"/>
            <a:ext cx="2075688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569464"/>
            <a:ext cx="181965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正文下载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008376"/>
            <a:ext cx="1819656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wechat-mp-tools</a:t>
            </a:r>
          </a:p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we-mp-rss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8856" y="2404872"/>
            <a:ext cx="1773936" cy="1307592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569464"/>
            <a:ext cx="15179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8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智能打标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008376"/>
            <a:ext cx="1517904" cy="6949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DeepSeek</a:t>
            </a:r>
          </a:p>
          <a:p>
            <a:pPr>
              <a:spcAft>
                <a:spcPts val="900"/>
              </a:spcAft>
              <a:defRPr sz="12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类型、方向、时效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03120" y="3054096"/>
            <a:ext cx="338328" cy="0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87368" y="3054096"/>
            <a:ext cx="338328" cy="0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01384" y="3054096"/>
            <a:ext cx="347472" cy="0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22792" y="3054096"/>
            <a:ext cx="411480" cy="0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iamond 20"/>
          <p:cNvSpPr/>
          <p:nvPr/>
        </p:nvSpPr>
        <p:spPr>
          <a:xfrm>
            <a:off x="9043416" y="2267712"/>
            <a:ext cx="2578608" cy="1609344"/>
          </a:xfrm>
          <a:prstGeom prst="diamond">
            <a:avLst/>
          </a:prstGeom>
          <a:solidFill>
            <a:srgbClr val="E8EFF4"/>
          </a:solidFill>
          <a:ln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724912"/>
            <a:ext cx="13716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条件符合？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31821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Python 规则筛选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5696" y="4224528"/>
            <a:ext cx="2075688" cy="667512"/>
          </a:xfrm>
          <a:prstGeom prst="rect">
            <a:avLst/>
          </a:prstGeom>
          <a:solidFill>
            <a:srgbClr val="E8EFF4"/>
          </a:solidFill>
          <a:ln w="762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42569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TikHub 正文兜底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58968" y="3712463"/>
            <a:ext cx="0" cy="512065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59552" y="3813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下载失败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01384" y="4562856"/>
            <a:ext cx="155448" cy="0"/>
          </a:xfrm>
          <a:prstGeom prst="line">
            <a:avLst/>
          </a:prstGeom>
          <a:ln w="14604">
            <a:solidFill>
              <a:srgbClr val="537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656832" y="3054096"/>
            <a:ext cx="0" cy="1508760"/>
          </a:xfrm>
          <a:prstGeom prst="line">
            <a:avLst/>
          </a:prstGeom>
          <a:ln w="14604">
            <a:solidFill>
              <a:srgbClr val="537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56832" y="3054096"/>
            <a:ext cx="192024" cy="0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332720" y="3877056"/>
            <a:ext cx="0" cy="475488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460736" y="3986784"/>
            <a:ext cx="8229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符合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4370832"/>
            <a:ext cx="2670048" cy="914400"/>
          </a:xfrm>
          <a:prstGeom prst="rect">
            <a:avLst/>
          </a:prstGeom>
          <a:solidFill>
            <a:srgbClr val="E8EFF4"/>
          </a:solidFill>
          <a:ln w="762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454456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SQLite → 钉钉 AI 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9743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537C9B"/>
                </a:solidFill>
                <a:latin typeface="Microsoft YaHei"/>
              </a:defRPr>
            </a:pPr>
            <a:r>
              <a:rPr>
                <a:ea typeface="Microsoft YaHei"/>
              </a:rPr>
              <a:t>重要机会提醒 / 截止提醒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622024" y="3072384"/>
            <a:ext cx="283464" cy="0"/>
          </a:xfrm>
          <a:prstGeom prst="line">
            <a:avLst/>
          </a:prstGeom>
          <a:ln w="14604">
            <a:solidFill>
              <a:srgbClr val="537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905488" y="3072384"/>
            <a:ext cx="0" cy="2432304"/>
          </a:xfrm>
          <a:prstGeom prst="line">
            <a:avLst/>
          </a:prstGeom>
          <a:ln w="14604">
            <a:solidFill>
              <a:srgbClr val="537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772400" y="5504688"/>
            <a:ext cx="4133088" cy="0"/>
          </a:xfrm>
          <a:prstGeom prst="line">
            <a:avLst/>
          </a:prstGeom>
          <a:ln w="14604">
            <a:solidFill>
              <a:srgbClr val="537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772400" y="5102352"/>
            <a:ext cx="0" cy="402336"/>
          </a:xfrm>
          <a:prstGeom prst="line">
            <a:avLst/>
          </a:prstGeom>
          <a:ln w="14604">
            <a:solidFill>
              <a:srgbClr val="537C9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922008" y="4370832"/>
            <a:ext cx="1709928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3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77456" y="4498848"/>
            <a:ext cx="142646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排除 / 人工复核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15984" y="5568696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不符合或无法确定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5870448"/>
            <a:ext cx="11064240" cy="548640"/>
          </a:xfrm>
          <a:prstGeom prst="rect">
            <a:avLst/>
          </a:prstGeom>
          <a:solidFill>
            <a:srgbClr val="E8EFF4"/>
          </a:solidFill>
          <a:ln w="7620">
            <a:solidFill>
              <a:srgbClr val="E8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6025896"/>
            <a:ext cx="10716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263746"/>
                </a:solidFill>
                <a:latin typeface="Microsoft YaHei"/>
              </a:defRPr>
            </a:pPr>
            <a:r>
              <a:rPr>
                <a:ea typeface="Microsoft YaHei"/>
              </a:rPr>
              <a:t>筛选：科研项目 / 指南申报  ·  方向匹配  ·  全国性国家级、北京、浙江  ·  未过期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65392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C7F8E"/>
                </a:solidFill>
                <a:latin typeface="Microsoft YaHei"/>
              </a:defRPr>
            </a:pPr>
            <a:r>
              <a:rPr>
                <a:ea typeface="Microsoft YaHei"/>
              </a:rPr>
              <a:t>截止时间不明可继续筛选；地域不明转人工复核。正文优先开源获取，失败再调用 TikHub。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微信公众号科研机会处理流程｜一页流程图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