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8229600" cy="2286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WX-CRAWL   /  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972800" cy="6400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从公众号文章，到可行动的科研机会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列表发现 → 正文归档 → 规则判断 → 机会入库 → 消息提醒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64224"/>
            <a:ext cx="10863072" cy="0"/>
          </a:xfrm>
          <a:prstGeom prst="line">
            <a:avLst/>
          </a:prstGeom>
          <a:ln w="13970">
            <a:solidFill>
              <a:srgbClr val="607F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47395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微信公众号科研机会  ·  工具调用与信息筛选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48640" cy="21945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01 / 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" y="2468880"/>
            <a:ext cx="1965960" cy="24688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3" y="2633472"/>
            <a:ext cx="1636776" cy="2286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063240"/>
            <a:ext cx="1636776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历史列表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" y="3611880"/>
            <a:ext cx="1636776" cy="12801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TikHub V2 HTTP</a:t>
            </a:r>
          </a:p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分页获取 · 增量去重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42616" y="3639312"/>
            <a:ext cx="219456" cy="0"/>
          </a:xfrm>
          <a:prstGeom prst="line">
            <a:avLst/>
          </a:prstGeom>
          <a:ln w="13970">
            <a:solidFill>
              <a:srgbClr val="607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889504" y="2468880"/>
            <a:ext cx="1965960" cy="24688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54096" y="2633472"/>
            <a:ext cx="1636776" cy="2286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3063240"/>
            <a:ext cx="1636776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正文下载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3611880"/>
            <a:ext cx="1636776" cy="12801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两级开源工具</a:t>
            </a:r>
          </a:p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TikHub 最后兜底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64608" y="3639312"/>
            <a:ext cx="219456" cy="0"/>
          </a:xfrm>
          <a:prstGeom prst="line">
            <a:avLst/>
          </a:prstGeom>
          <a:ln w="13970">
            <a:solidFill>
              <a:srgbClr val="607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111496" y="2468880"/>
            <a:ext cx="1965960" cy="24688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2633472"/>
            <a:ext cx="1636776" cy="2286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3063240"/>
            <a:ext cx="1636776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打标与筛选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3611880"/>
            <a:ext cx="1636776" cy="12801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地域 · 截止 · 方向</a:t>
            </a:r>
          </a:p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KEEP / DROP / REVIEW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86600" y="3639312"/>
            <a:ext cx="219456" cy="0"/>
          </a:xfrm>
          <a:prstGeom prst="line">
            <a:avLst/>
          </a:prstGeom>
          <a:ln w="13970">
            <a:solidFill>
              <a:srgbClr val="607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333488" y="2468880"/>
            <a:ext cx="1965960" cy="24688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2633472"/>
            <a:ext cx="1636776" cy="2286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063240"/>
            <a:ext cx="1636776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入库与同步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611880"/>
            <a:ext cx="1636776" cy="12801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SQLite 保存标签依据</a:t>
            </a:r>
          </a:p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同步钉钉 AI 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08592" y="3639312"/>
            <a:ext cx="219456" cy="0"/>
          </a:xfrm>
          <a:prstGeom prst="line">
            <a:avLst/>
          </a:prstGeom>
          <a:ln w="13970">
            <a:solidFill>
              <a:srgbClr val="607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555480" y="2468880"/>
            <a:ext cx="1965960" cy="24688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0072" y="2633472"/>
            <a:ext cx="1636776" cy="2286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72" y="3063240"/>
            <a:ext cx="1636776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机会提醒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0072" y="3611880"/>
            <a:ext cx="1636776" cy="12801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高重要度提醒</a:t>
            </a:r>
          </a:p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申报截止提醒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422392"/>
            <a:ext cx="1078992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关注范围   全国性国家级项目 / 北京市 / 浙江省（含下辖市区县）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8229600" cy="2286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WX-CRAWL   /  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972800" cy="6400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历史列表付费获取，正文按序兜底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当前正式历史后端：TikHub；正文成功通过校验后，立即停止后续下载尝试。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64224"/>
            <a:ext cx="10863072" cy="0"/>
          </a:xfrm>
          <a:prstGeom prst="line">
            <a:avLst/>
          </a:prstGeom>
          <a:ln w="13970">
            <a:solidFill>
              <a:srgbClr val="607F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47395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微信公众号科研机会  ·  工具调用与信息筛选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48640" cy="21945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02 / 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" y="2359152"/>
            <a:ext cx="10853928" cy="758952"/>
          </a:xfrm>
          <a:prstGeom prst="rect">
            <a:avLst/>
          </a:prstGeom>
          <a:solidFill>
            <a:srgbClr val="E6EDF3"/>
          </a:solidFill>
          <a:ln w="8890"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87752"/>
            <a:ext cx="1046988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run.sh   →   公众号身份核验   →   TikHub 历史列表   →   URL 去重（归档 + SQLite）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3648456"/>
            <a:ext cx="3438144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831336"/>
            <a:ext cx="3072384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wechat-mp-tools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398264"/>
            <a:ext cx="3072384" cy="25603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第一优先 · 开源下载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0" y="4233672"/>
            <a:ext cx="228600" cy="0"/>
          </a:xfrm>
          <a:prstGeom prst="line">
            <a:avLst/>
          </a:prstGeom>
          <a:ln w="13970">
            <a:solidFill>
              <a:srgbClr val="607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370831" y="3648456"/>
            <a:ext cx="3438144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3831336"/>
            <a:ext cx="3072384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we-mp-rss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4398264"/>
            <a:ext cx="3072384" cy="25603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第二优先 · 开源下载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18119" y="4233672"/>
            <a:ext cx="228600" cy="0"/>
          </a:xfrm>
          <a:prstGeom prst="line">
            <a:avLst/>
          </a:prstGeom>
          <a:ln w="13970">
            <a:solidFill>
              <a:srgbClr val="607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074152" y="3648456"/>
            <a:ext cx="3438144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3831336"/>
            <a:ext cx="3072384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TikHub 正文接口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4398264"/>
            <a:ext cx="3072384" cy="25603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最后兜底 · 付费调用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282696"/>
            <a:ext cx="10058400" cy="24688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向右切换条件：下载失败或正文校验不通过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266944"/>
            <a:ext cx="10789920" cy="6400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通过校验 → 归档 HTML、文本、元数据；全部失败 → 记录失败，保留待处理。</a:t>
            </a:r>
          </a:p>
          <a:p>
            <a:pPr>
              <a:spcAft>
                <a:spcPts val="800"/>
              </a:spcAft>
              <a:defRPr sz="14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图片型正文可通过下载校验，但不代表图片文字已经识别。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8229600" cy="2286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WX-CRAWL   /  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972800" cy="6400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先确认有效范围，再判断科研价值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模型生成结构化标签；程序在筛选与发送时再次执行门禁。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64224"/>
            <a:ext cx="10863072" cy="0"/>
          </a:xfrm>
          <a:prstGeom prst="line">
            <a:avLst/>
          </a:prstGeom>
          <a:ln w="13970">
            <a:solidFill>
              <a:srgbClr val="607F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47395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微信公众号科研机会  ·  工具调用与信息筛选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48640" cy="21945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03 / 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" y="2350008"/>
            <a:ext cx="10853928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505456"/>
            <a:ext cx="210312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01  版本与证据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505456"/>
            <a:ext cx="420624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当前规则 + 有效结构 + 原文证据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2505456"/>
            <a:ext cx="3959352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不合格 → 重试 / 待处理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3072384"/>
            <a:ext cx="10853928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227832"/>
            <a:ext cx="210312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02  截止有效性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3227832"/>
            <a:ext cx="420624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未截止，或截止时间不明确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3227832"/>
            <a:ext cx="3959352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明确已截止 → 排除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" y="3794760"/>
            <a:ext cx="10853928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950208"/>
            <a:ext cx="210312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03  地域范围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950208"/>
            <a:ext cx="420624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全国性国家级 / 北京 / 浙江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3950208"/>
            <a:ext cx="3959352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其他地区 → 排除；不明 → 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" y="4517136"/>
            <a:ext cx="10853928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672583"/>
            <a:ext cx="210312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04  机会与方向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4672583"/>
            <a:ext cx="420624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项目或指南申报 + 目标研究方向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4672583"/>
            <a:ext cx="3959352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KEEP 入选；DROP 排除；REVIEW 复核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577840"/>
            <a:ext cx="10698480" cy="38404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例：国家自然科学基金区域联合基金（江西）属于其他地区专项，不能因“国家”字样放行。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8229600" cy="2286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WX-CRAWL   /  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972800" cy="6400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入库与提醒分支执行，发送前再校验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符合范围的 KEEP 机会进入下游；高重要度提醒不以数据库同步完成为前提。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64224"/>
            <a:ext cx="10863072" cy="0"/>
          </a:xfrm>
          <a:prstGeom prst="line">
            <a:avLst/>
          </a:prstGeom>
          <a:ln w="13970">
            <a:solidFill>
              <a:srgbClr val="607F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47395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微信公众号科研机会  ·  工具调用与信息筛选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48640" cy="21945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04 / 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200400"/>
            <a:ext cx="1828800" cy="1143000"/>
          </a:xfrm>
          <a:prstGeom prst="rect">
            <a:avLst/>
          </a:prstGeom>
          <a:solidFill>
            <a:srgbClr val="E6EDF3"/>
          </a:solidFill>
          <a:ln w="8890"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83864"/>
            <a:ext cx="1463040" cy="5486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有效 KEEP</a:t>
            </a:r>
          </a:p>
          <a:p>
            <a:pPr>
              <a:spcAft>
                <a:spcPts val="800"/>
              </a:spcAft>
              <a:defRPr sz="20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科研机会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3767328"/>
            <a:ext cx="320040" cy="0"/>
          </a:xfrm>
          <a:prstGeom prst="line">
            <a:avLst/>
          </a:prstGeom>
          <a:ln w="13970">
            <a:solidFill>
              <a:srgbClr val="607F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34640" y="2688336"/>
            <a:ext cx="0" cy="2432304"/>
          </a:xfrm>
          <a:prstGeom prst="line">
            <a:avLst/>
          </a:prstGeom>
          <a:ln w="13970">
            <a:solidFill>
              <a:srgbClr val="607F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834640" y="2679192"/>
            <a:ext cx="384048" cy="0"/>
          </a:xfrm>
          <a:prstGeom prst="line">
            <a:avLst/>
          </a:prstGeom>
          <a:ln w="13970">
            <a:solidFill>
              <a:srgbClr val="607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246120" y="2286000"/>
            <a:ext cx="8229600" cy="85039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2414016"/>
            <a:ext cx="2011680" cy="31089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高重要度提醒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505456"/>
            <a:ext cx="5623560" cy="34747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high → 当前门禁复核 → 幂等去重 → 钉钉提醒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34640" y="3959352"/>
            <a:ext cx="384048" cy="0"/>
          </a:xfrm>
          <a:prstGeom prst="line">
            <a:avLst/>
          </a:prstGeom>
          <a:ln w="13970">
            <a:solidFill>
              <a:srgbClr val="607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246120" y="3566160"/>
            <a:ext cx="8229600" cy="85039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3694176"/>
            <a:ext cx="2011680" cy="31089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入库与同步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9552" y="3785615"/>
            <a:ext cx="5623560" cy="34747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筛选报告 → 入库前复核 → SQLite → 钉钉 AI 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34640" y="5239512"/>
            <a:ext cx="384048" cy="0"/>
          </a:xfrm>
          <a:prstGeom prst="line">
            <a:avLst/>
          </a:prstGeom>
          <a:ln w="13970">
            <a:solidFill>
              <a:srgbClr val="607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246120" y="4846320"/>
            <a:ext cx="8229600" cy="85039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4974336"/>
            <a:ext cx="2011680" cy="31089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截止提醒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5065776"/>
            <a:ext cx="5623560" cy="34747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库中未来截止时间 → 排期 → 发送前复核 → 钉钉提醒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8229600" cy="2286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WX-CRAWL   /  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972800" cy="6400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规则升级必须可追溯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当前已实施契约：标签格式 schema 2 / 决策树 tree 1.2 / 领域配置 profile 1.3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64224"/>
            <a:ext cx="10863072" cy="0"/>
          </a:xfrm>
          <a:prstGeom prst="line">
            <a:avLst/>
          </a:prstGeom>
          <a:ln w="13970">
            <a:solidFill>
              <a:srgbClr val="607F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47395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微信公众号科研机会  ·  工具调用与信息筛选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48640" cy="21945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05 / 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" y="2432304"/>
            <a:ext cx="3438144" cy="24688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3" y="2596896"/>
            <a:ext cx="3108960" cy="2286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026664"/>
            <a:ext cx="310896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读取当前契约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" y="3575304"/>
            <a:ext cx="3108960" cy="12801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以规则文件为准</a:t>
            </a:r>
          </a:p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不依赖历史完成标记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1" y="2432304"/>
            <a:ext cx="3438144" cy="24688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3" y="2596896"/>
            <a:ext cx="3108960" cy="2286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3" y="3026664"/>
            <a:ext cx="310896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验证历史结果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3" y="3575304"/>
            <a:ext cx="3108960" cy="12801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旧版本或缺地域依据</a:t>
            </a:r>
          </a:p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必须实际重新判定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2" y="2432304"/>
            <a:ext cx="3438144" cy="24688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2596896"/>
            <a:ext cx="3108960" cy="2286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026664"/>
            <a:ext cx="310896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保留判断依据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575304"/>
            <a:ext cx="3108960" cy="12801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地域结论与原文证据</a:t>
            </a:r>
          </a:p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随完整标签一同保存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" y="5285232"/>
            <a:ext cx="10844784" cy="594360"/>
          </a:xfrm>
          <a:prstGeom prst="rect">
            <a:avLst/>
          </a:prstGeom>
          <a:solidFill>
            <a:srgbClr val="E6EDF3"/>
          </a:solidFill>
          <a:ln w="8890"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5449824"/>
            <a:ext cx="104241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截止不明可继续筛选；地域不明须复核。数量一致，不等于内容与规则版本合规。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微信公众号工具调用与信息筛选流程</dc:title>
  <dc:subject>wx-crawl 工作流｜冷色极简版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